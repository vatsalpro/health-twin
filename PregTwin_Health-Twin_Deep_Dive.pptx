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98c90b9a-b1c2-37a9-7b95-5b3a50aae4bc}">
          <p14:sldIdLst>
            <p14:sldId id="256"/>
            <p14:sldId id="257"/>
            <p14:sldId id="258"/>
          </p14:sldIdLst>
        </p14:section>
        <p14:section name="Architecture" id="{a24ccb3e-25d2-c85f-5ffb-d0165f5b3440}">
          <p14:sldIdLst>
            <p14:sldId id="259"/>
            <p14:sldId id="260"/>
            <p14:sldId id="261"/>
            <p14:sldId id="262"/>
          </p14:sldIdLst>
        </p14:section>
        <p14:section name="Features" id="{841d6968-b31e-ad1b-b30c-b066b40a21f3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odebase" id="{5da71db4-2ea9-d29f-4d94-982d12da0363}">
          <p14:sldIdLst>
            <p14:sldId id="276"/>
            <p14:sldId id="277"/>
            <p14:sldId id="278"/>
          </p14:sldIdLst>
        </p14:section>
        <p14:section name="Models &amp; Quality" id="{2692581f-dc03-daab-ef2f-a34032ee471d}">
          <p14:sldIdLst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1D3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1D3F"/>
                </a:solidFill>
                <a:latin typeface="+mn-lt"/>
              </a:rPr>
              <a:t>Service modules by lines of code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Lines of code</c:v>
                </c:pt>
              </c:strCache>
            </c:strRef>
          </c:tx>
          <c:spPr>
            <a:solidFill>
              <a:srgbClr val="C238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ai_extractor</c:v>
                  </c:pt>
                  <c:pt idx="1">
                    <c:v>ai_assistant</c:v>
                  </c:pt>
                  <c:pt idx="2">
                    <c:v>medication</c:v>
                  </c:pt>
                  <c:pt idx="3">
                    <c:v>simulation</c:v>
                  </c:pt>
                  <c:pt idx="4">
                    <c:v>prediction</c:v>
                  </c:pt>
                  <c:pt idx="5">
                    <c:v>appointment</c:v>
                  </c:pt>
                  <c:pt idx="6">
                    <c:v>device_connectors</c:v>
                  </c:pt>
                  <c:pt idx="7">
                    <c:v>requesty_crane</c:v>
                  </c:pt>
                  <c:pt idx="8">
                    <c:v>twin</c:v>
                  </c:pt>
                  <c:pt idx="9">
                    <c:v>notification</c:v>
                  </c:pt>
                  <c:pt idx="10">
                    <c:v>document_processor</c:v>
                  </c:pt>
                  <c:pt idx="11">
                    <c:v>audit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1210</c:v>
                </c:pt>
                <c:pt idx="1">
                  <c:v>855</c:v>
                </c:pt>
                <c:pt idx="2">
                  <c:v>804</c:v>
                </c:pt>
                <c:pt idx="3">
                  <c:v>538</c:v>
                </c:pt>
                <c:pt idx="4">
                  <c:v>474</c:v>
                </c:pt>
                <c:pt idx="5">
                  <c:v>463</c:v>
                </c:pt>
                <c:pt idx="6">
                  <c:v>398</c:v>
                </c:pt>
                <c:pt idx="7">
                  <c:v>268</c:v>
                </c:pt>
                <c:pt idx="8">
                  <c:v>177</c:v>
                </c:pt>
                <c:pt idx="9">
                  <c:v>161</c:v>
                </c:pt>
                <c:pt idx="10">
                  <c:v>148</c:v>
                </c:pt>
                <c:pt idx="11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B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1D3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1D3F"/>
                </a:solidFill>
                <a:latin typeface="+mn-lt"/>
              </a:rPr>
              <a:t>Logistic coefficients (intercept −4.20, v1.4.2)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Log-odds weight</c:v>
                </c:pt>
              </c:strCache>
            </c:strRef>
          </c:tx>
          <c:spPr>
            <a:solidFill>
              <a:srgbClr val="7A4F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Proteinuria 3+</c:v>
                  </c:pt>
                  <c:pt idx="1">
                    <c:v>Platelets &lt; 100</c:v>
                  </c:pt>
                  <c:pt idx="2">
                    <c:v>UPCR ≥ 0.3</c:v>
                  </c:pt>
                  <c:pt idx="3">
                    <c:v>Prior preeclampsia</c:v>
                  </c:pt>
                  <c:pt idx="4">
                    <c:v>Chronic hypertension</c:v>
                  </c:pt>
                  <c:pt idx="5">
                    <c:v>Platelets &lt; 150</c:v>
                  </c:pt>
                  <c:pt idx="6">
                    <c:v>Creatinine &gt; 0.9</c:v>
                  </c:pt>
                  <c:pt idx="7">
                    <c:v>AST &gt; 40</c:v>
                  </c:pt>
                  <c:pt idx="8">
                    <c:v>Multiple gestation</c:v>
                  </c:pt>
                  <c:pt idx="9">
                    <c:v>SBP rising &gt; 15</c:v>
                  </c:pt>
                  <c:pt idx="10">
                    <c:v>Pregestational diabetes</c:v>
                  </c:pt>
                  <c:pt idx="11">
                    <c:v>Age &gt; 35</c:v>
                  </c:pt>
                  <c:pt idx="12">
                    <c:v>BMI &gt; 30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2.2</c:v>
                </c:pt>
                <c:pt idx="1">
                  <c:v>1.85</c:v>
                </c:pt>
                <c:pt idx="2">
                  <c:v>1.45</c:v>
                </c:pt>
                <c:pt idx="3">
                  <c:v>1.35</c:v>
                </c:pt>
                <c:pt idx="4">
                  <c:v>1.15</c:v>
                </c:pt>
                <c:pt idx="5">
                  <c:v>1.1</c:v>
                </c:pt>
                <c:pt idx="6">
                  <c:v>0.9</c:v>
                </c:pt>
                <c:pt idx="7">
                  <c:v>0.85</c:v>
                </c:pt>
                <c:pt idx="8">
                  <c:v>0.75</c:v>
                </c:pt>
                <c:pt idx="9">
                  <c:v>0.65</c:v>
                </c:pt>
                <c:pt idx="10">
                  <c:v>0.65</c:v>
                </c:pt>
                <c:pt idx="11">
                  <c:v>0.45</c:v>
                </c:pt>
                <c:pt idx="12">
                  <c:v>0.38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B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28800"/>
            <a:ext cx="60350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0"/>
            <a:ext cx="523951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MATERNAL DIGITAL TWIN  ·  PREECLAMPSIA EARLY WARNING</a:t>
            </a:r>
            <a:endParaRPr lang="en-US" sz="14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288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PregTwin (Health-Twin)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5204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longitudinal maternal digital twin and preeclampsia early-warning research platform: README, architecture and full codebase walkthrough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Vatsal Kumar  ·  Team kvatsal03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Ramaiah Institute of Technology, Bengaluru  ·  ISE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github.com/vatsalpro/health-twin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Why PregTwin exists: the silent window before preeclampsia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651760" cy="1828800"/>
          </a:xfrm>
          <a:prstGeom prst="roundRect">
            <a:avLst>
              <a:gd name="adj" fmla="val 35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800+</a:t>
            </a:r>
            <a:endParaRPr lang="en-US" sz="12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women die every day from preventable pregnancy complications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331159" y="1280160"/>
            <a:ext cx="2651760" cy="1828800"/>
          </a:xfrm>
          <a:prstGeom prst="roundRect">
            <a:avLst>
              <a:gd name="adj" fmla="val 35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 min</a:t>
            </a:r>
            <a:endParaRPr lang="en-US" sz="12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maternal death every two minutes worldwide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05118" y="1280160"/>
            <a:ext cx="2651760" cy="1828800"/>
          </a:xfrm>
          <a:prstGeom prst="roundRect">
            <a:avLst>
              <a:gd name="adj" fmla="val 35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14 days</a:t>
            </a:r>
            <a:endParaRPr lang="en-US" sz="12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forecast horizon of the early-warning risk model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079078" y="1280160"/>
            <a:ext cx="2651760" cy="1828800"/>
          </a:xfrm>
          <a:prstGeom prst="roundRect">
            <a:avLst>
              <a:gd name="adj" fmla="val 35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≥ 20 wk</a:t>
            </a:r>
            <a:endParaRPr lang="en-US" sz="12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ACOG / ISSHP gestational-age eligibility guard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preeclampsia progresses without alarms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3840480"/>
            <a:ext cx="3931920" cy="2148840"/>
          </a:xfrm>
          <a:prstGeom prst="roundRect">
            <a:avLst>
              <a:gd name="adj" fmla="val 297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dash"/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39044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Window of opportunity: digital-twin surveillance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4572000"/>
            <a:ext cx="85039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4343400"/>
            <a:ext cx="457200" cy="4572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" y="4937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Week 12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Normal placentation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77640" y="4343400"/>
            <a:ext cx="457200" cy="45720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4937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Week 20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Endothelial stress begins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12280" y="4343400"/>
            <a:ext cx="457200" cy="45720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4937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Week 28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Silent MAP surge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46920" y="434340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0" y="4937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Week 34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9536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Severe preeclampsia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Every beat matters. Every mother matters.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Eight core capabilities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697480" cy="233172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Living 3D twin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Three.js + GLSL shaders react to MAP, BP and gestational age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280160"/>
            <a:ext cx="2697480" cy="233172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What-if simulation lab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Cardio, renal and metabolic scenarios with 14-day risk deltas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126480" y="1280160"/>
            <a:ext cx="2697480" cy="233172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Contactless camera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MediaPipe 478-point mesh + CHROM rPPG pulse, all in-browser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1280160"/>
            <a:ext cx="2697480" cy="233172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Clinical document OCR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PyMuPDF coordinates + local Ollama; clinician reviews every value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94760"/>
            <a:ext cx="2697480" cy="233172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5"/>
                </a:solidFill>
              </a:rPr>
              <a:t>Dr. Crane AI mascot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Patient chat through Requesty; explains orders, never prescribes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794760"/>
            <a:ext cx="2697480" cy="233172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Emergency triage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Rule engine checks ACOG/ISSHP red flags before any LLM runs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3794760"/>
            <a:ext cx="2697480" cy="233172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Medication management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Clinician-set orders, dose reminders and in-app confirmation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3794760"/>
            <a:ext cx="2697480" cy="233172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Scheduling &amp; booking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Weekly availability builder, atomic slot booking, doctor alerts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System architecture: five layers plus a data layer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011680" cy="4572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· Ingestion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2011680" cy="603504"/>
          </a:xfrm>
          <a:prstGeom prst="roundRect">
            <a:avLst>
              <a:gd name="adj" fmla="val 1060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Antenatal PDFs and lab reports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23744"/>
            <a:ext cx="2011680" cy="603504"/>
          </a:xfrm>
          <a:prstGeom prst="roundRect">
            <a:avLst>
              <a:gd name="adj" fmla="val 1060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IoT vitals: BLE BP, SpO2, scale, CGM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18688"/>
            <a:ext cx="2011680" cy="603504"/>
          </a:xfrm>
          <a:prstGeom prst="roundRect">
            <a:avLst>
              <a:gd name="adj" fmla="val 1060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Webcam: MediaPipe + rPPG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913632"/>
            <a:ext cx="2011680" cy="603504"/>
          </a:xfrm>
          <a:prstGeom prst="roundRect">
            <a:avLst>
              <a:gd name="adj" fmla="val 1060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Patient messages and symptoms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608576"/>
            <a:ext cx="2011680" cy="603504"/>
          </a:xfrm>
          <a:prstGeom prst="roundRect">
            <a:avLst>
              <a:gd name="adj" fmla="val 1060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Clinician orders and schedule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3520440"/>
            <a:ext cx="30175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770632" y="1280160"/>
            <a:ext cx="2011680" cy="457200"/>
          </a:xfrm>
          <a:prstGeom prst="roundRect">
            <a:avLst>
              <a:gd name="adj" fmla="val 14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· Gateway &amp; safety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70632" y="1828800"/>
            <a:ext cx="2011680" cy="1066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JWT + RBAC: clinician / patient isolation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70632" y="2987040"/>
            <a:ext cx="2011680" cy="1066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Emergency rule engine (ACOG / ISSHP)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4145280"/>
            <a:ext cx="2011680" cy="1066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Intent classifier and prompt-injection defence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82312" y="3520440"/>
            <a:ext cx="30175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084064" y="1280160"/>
            <a:ext cx="2011680" cy="457200"/>
          </a:xfrm>
          <a:prstGeom prst="roundRect">
            <a:avLst>
              <a:gd name="adj" fmla="val 14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 · Dual AI (isolated)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84064" y="1828800"/>
            <a:ext cx="2011680" cy="1645920"/>
          </a:xfrm>
          <a:prstGeom prst="roundRect">
            <a:avLst>
              <a:gd name="adj" fmla="val 3889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Local Ollama llama3.2:3b on :11434. Zero egress. OCR and lab parsing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84064" y="3566160"/>
            <a:ext cx="2011680" cy="1645920"/>
          </a:xfrm>
          <a:prstGeom prst="roundRect">
            <a:avLst>
              <a:gd name="adj" fmla="val 3889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Requesty gateway to Dr. Crane (gemma-4-31b-it). Patient chat only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95744" y="3520440"/>
            <a:ext cx="30175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7397496" y="1280160"/>
            <a:ext cx="2011680" cy="4572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 · Twin core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97496" y="1828800"/>
            <a:ext cx="2011680" cy="1066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Twin state engine: MAP and hemodynamics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97496" y="2987040"/>
            <a:ext cx="2011680" cy="1066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14-day Platt-calibrated preeclampsia risk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97496" y="4145280"/>
            <a:ext cx="2011680" cy="1066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Counterfactual simulation lab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09176" y="3520440"/>
            <a:ext cx="30175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9710928" y="1280160"/>
            <a:ext cx="2011680" cy="457200"/>
          </a:xfrm>
          <a:prstGeom prst="roundRect">
            <a:avLst>
              <a:gd name="adj" fmla="val 14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 · Experience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710928" y="1828800"/>
            <a:ext cx="2011680" cy="777240"/>
          </a:xfrm>
          <a:prstGeom prst="roundRect">
            <a:avLst>
              <a:gd name="adj" fmla="val 823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Three.js 3D living twin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710928" y="2697480"/>
            <a:ext cx="2011680" cy="777240"/>
          </a:xfrm>
          <a:prstGeom prst="roundRect">
            <a:avLst>
              <a:gd name="adj" fmla="val 823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Patient portal + Dr. Crane chat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710928" y="3566160"/>
            <a:ext cx="2011680" cy="777240"/>
          </a:xfrm>
          <a:prstGeom prst="roundRect">
            <a:avLst>
              <a:gd name="adj" fmla="val 823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Clinician workstation + audit trail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710928" y="4434840"/>
            <a:ext cx="2011680" cy="777240"/>
          </a:xfrm>
          <a:prstGeom prst="roundRect">
            <a:avLst>
              <a:gd name="adj" fmla="val 823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Welcome screen, origami UI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5394960"/>
            <a:ext cx="6858000" cy="9601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Care coordination engine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Medication engine · schedule builder and atomic booking · emergency escalation to on-call clinician · dose-reminder sync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5394960"/>
            <a:ext cx="4233672" cy="9601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Persistence &amp; audit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SQLAlchemy 2.0 → SQLite / PostgreSQL · 21 ORM tables · audit events · local PDF storage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Runtime architecture: browser, backend, data and 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74552" cy="1417320"/>
          </a:xfrm>
          <a:prstGeom prst="roundRect">
            <a:avLst>
              <a:gd name="adj" fmla="val 451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Browser: React 19 + TypeScript + Vite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2532888" cy="73152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Views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18 routed pages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447288" y="1828800"/>
            <a:ext cx="2532888" cy="73152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3D twin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Three.js + GLSL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08776" y="1828800"/>
            <a:ext cx="2532888" cy="73152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Camera sensing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MediaPipe + rPPG (on-device)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70264" y="1828800"/>
            <a:ext cx="2532888" cy="73152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Dr. Crane UI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Chat + mascot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108960"/>
            <a:ext cx="11274552" cy="1417320"/>
          </a:xfrm>
          <a:prstGeom prst="roundRect">
            <a:avLst>
              <a:gd name="adj" fmla="val 451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18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Backend: FastAPI + SQLAlchemy 2.0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657600"/>
            <a:ext cx="2532888" cy="73152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api/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17 routers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52244" y="4526280"/>
            <a:ext cx="0" cy="4114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447288" y="3657600"/>
            <a:ext cx="2532888" cy="73152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services/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12 modules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13732" y="4526280"/>
            <a:ext cx="0" cy="4114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208776" y="3657600"/>
            <a:ext cx="2532888" cy="73152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core/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JWT, RBAC, config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75220" y="4526280"/>
            <a:ext cx="0" cy="4114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8970264" y="3657600"/>
            <a:ext cx="2532888" cy="73152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models/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21 ORM tables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236708" y="4526280"/>
            <a:ext cx="0" cy="4114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57200" y="4937760"/>
            <a:ext cx="11274552" cy="1417320"/>
          </a:xfrm>
          <a:prstGeom prst="roundRect">
            <a:avLst>
              <a:gd name="adj" fmla="val 451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0474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Data and AI services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486400"/>
            <a:ext cx="2532888" cy="73152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SQLite / Postgres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Tables + audit log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447288" y="5486400"/>
            <a:ext cx="2532888" cy="73152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PDF storage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backend/storage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08776" y="5486400"/>
            <a:ext cx="2532888" cy="73152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Ollama (local)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llama3.2:3b, OCR, no egress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970264" y="5486400"/>
            <a:ext cx="2532888" cy="73152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Requesty (cloud)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Dr. Crane chat only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99048" y="3108960"/>
            <a:ext cx="0" cy="91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9048" y="2697480"/>
            <a:ext cx="0" cy="4114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26364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REST /api/v1 + JWT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Three request paths through the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Patient chat path: safety gates run before any AI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1688592" cy="822960"/>
          </a:xfrm>
          <a:prstGeom prst="roundRect">
            <a:avLst>
              <a:gd name="adj" fmla="val 7778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Patient message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45792" y="2011680"/>
            <a:ext cx="228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2374392" y="1600200"/>
            <a:ext cx="1688592" cy="822960"/>
          </a:xfrm>
          <a:prstGeom prst="roundRect">
            <a:avLst>
              <a:gd name="adj" fmla="val 7778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JWT + RBAC check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62984" y="2011680"/>
            <a:ext cx="228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4291584" y="1600200"/>
            <a:ext cx="1688592" cy="822960"/>
          </a:xfrm>
          <a:prstGeom prst="roundRect">
            <a:avLst>
              <a:gd name="adj" fmla="val 7778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Emergency rules (pre-LLM)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0176" y="2011680"/>
            <a:ext cx="228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6208776" y="1600200"/>
            <a:ext cx="1688592" cy="822960"/>
          </a:xfrm>
          <a:prstGeom prst="roundRect">
            <a:avLst>
              <a:gd name="adj" fmla="val 7778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Intent + injection filter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97368" y="2011680"/>
            <a:ext cx="228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8125968" y="1600200"/>
            <a:ext cx="1688592" cy="822960"/>
          </a:xfrm>
          <a:prstGeom prst="roundRect">
            <a:avLst>
              <a:gd name="adj" fmla="val 7778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Dr. Crane via Requesty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14560" y="2011680"/>
            <a:ext cx="228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0043160" y="1600200"/>
            <a:ext cx="1688592" cy="822960"/>
          </a:xfrm>
          <a:prstGeom prst="roundRect">
            <a:avLst>
              <a:gd name="adj" fmla="val 7778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Reply in patient portal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971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Document path: human-in-the-loop extraction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37560"/>
            <a:ext cx="1688592" cy="822960"/>
          </a:xfrm>
          <a:prstGeom prst="roundRect">
            <a:avLst>
              <a:gd name="adj" fmla="val 7778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Antenatal PDF upload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45792" y="3749040"/>
            <a:ext cx="228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374392" y="3337560"/>
            <a:ext cx="1688592" cy="822960"/>
          </a:xfrm>
          <a:prstGeom prst="roundRect">
            <a:avLst>
              <a:gd name="adj" fmla="val 7778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PyMuPDF text + bounding boxes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62984" y="3749040"/>
            <a:ext cx="228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291584" y="3337560"/>
            <a:ext cx="1688592" cy="822960"/>
          </a:xfrm>
          <a:prstGeom prst="roundRect">
            <a:avLst>
              <a:gd name="adj" fmla="val 7778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Ollama llama3.2:3b parsing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80176" y="3749040"/>
            <a:ext cx="228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208776" y="3337560"/>
            <a:ext cx="1688592" cy="822960"/>
          </a:xfrm>
          <a:prstGeom prst="roundRect">
            <a:avLst>
              <a:gd name="adj" fmla="val 7778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Clinician: accept / edit / reject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97368" y="3749040"/>
            <a:ext cx="228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8125968" y="3337560"/>
            <a:ext cx="1688592" cy="822960"/>
          </a:xfrm>
          <a:prstGeom prst="roundRect">
            <a:avLst>
              <a:gd name="adj" fmla="val 7778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Clinical observations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814560" y="3749040"/>
            <a:ext cx="228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10043160" y="3337560"/>
            <a:ext cx="1688592" cy="822960"/>
          </a:xfrm>
          <a:prstGeom prst="roundRect">
            <a:avLst>
              <a:gd name="adj" fmla="val 7778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Twin state → risk forecast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709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Camera path: 100% on-device, no video stored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5074920"/>
            <a:ext cx="2072030" cy="822960"/>
          </a:xfrm>
          <a:prstGeom prst="roundRect">
            <a:avLst>
              <a:gd name="adj" fmla="val 7778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Browser webcam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29230" y="5486400"/>
            <a:ext cx="228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2757830" y="5074920"/>
            <a:ext cx="2072030" cy="822960"/>
          </a:xfrm>
          <a:prstGeom prst="roundRect">
            <a:avLst>
              <a:gd name="adj" fmla="val 7778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MediaPipe 478-landmark mesh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29861" y="5486400"/>
            <a:ext cx="228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058461" y="5074920"/>
            <a:ext cx="2072030" cy="822960"/>
          </a:xfrm>
          <a:prstGeom prst="roundRect">
            <a:avLst>
              <a:gd name="adj" fmla="val 7778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CHROM rPPG on forehead and cheeks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30491" y="5486400"/>
            <a:ext cx="228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7359091" y="5074920"/>
            <a:ext cx="2072030" cy="822960"/>
          </a:xfrm>
          <a:prstGeom prst="roundRect">
            <a:avLst>
              <a:gd name="adj" fmla="val 7778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HR, blinks, head pose (local)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431122" y="5486400"/>
            <a:ext cx="228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9659722" y="5074920"/>
            <a:ext cx="2072030" cy="822960"/>
          </a:xfrm>
          <a:prstGeom prst="roundRect">
            <a:avLst>
              <a:gd name="adj" fmla="val 7778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Consent-gated session summary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370832" y="2468880"/>
            <a:ext cx="3749040" cy="4572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Critical sign (BP ≥ 160/110, severe headache, bleeding) → red alert + on-call clinician paged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Tech stack and strict AI isolation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532120" cy="2926080"/>
          </a:xfrm>
          <a:prstGeom prst="roundRect">
            <a:avLst>
              <a:gd name="adj" fmla="val 2188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Backend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FastAPI + Uvicorn, async REST under /api/v1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SQLAlchemy 2.0: SQLite, PostgreSQL-ready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JWT + PBKDF2-SHA256; roles: clinician, patient, admin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PyMuPDF 2 + Tesseract OCR adapter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scikit-learn, NumPy, SciPy, httpx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pytest: 72 tests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199632" y="1280160"/>
            <a:ext cx="5532120" cy="2926080"/>
          </a:xfrm>
          <a:prstGeom prst="roundRect">
            <a:avLst>
              <a:gd name="adj" fmla="val 2188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Frontend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382512" y="178308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React 19 + TypeScript + Vite 8, React Router 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Tailwind CSS v4, glassmorphic clinical UI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Three.js with custom GLSL shaders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MediaPipe Face Landmarker (WASM) + CHROM rPPG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Recharts trajectories and contribution charts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Vitest: 25 tests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5532120" cy="19202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Ollama: private, compulsory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llama3.2:3b at localhost:11434 (~2 GB). Clinical OCR and lab parsing with zero data egress.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99632" y="4434840"/>
            <a:ext cx="5532120" cy="19202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Requesty: chat only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router.requesty.ai/v1 with google/gemma-4-31b-it. Powers Dr. Crane; architecturally separate from Ollama.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1. Living 3D maternal twin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Turns hemodynamic data into an organic 3D maternal figure, so clinicians see trends instead of reading a spreadsheet.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Twin state engine derives MAP and pulse pressure from every new SBP / DBP observation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64408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4930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101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resulting MaternalTwinState is stored per patient and served by the twin API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88536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5171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334256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Three.js loads maternal-body.glb and runs two custom GLSL shaders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312664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55412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358384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Shader B ties pulse speed, ring frequency and particle drift to MAP, BP and gestational age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874520"/>
            <a:ext cx="4462272" cy="251460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Key details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2331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Shader A: ambient cellular field from multi-scale simplex noise (micro-perfusion, oxygenation)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Shader B: data-reactive hemodynamic signal field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Shown in the Maternal Twin view for both roles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572000"/>
            <a:ext cx="4462272" cy="178308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Where in the code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50292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components/MaternalTwin3D.tsx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views/MaternalTwinView.tsx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public/models/maternal-body.glb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services/twin_service.py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api/twin.py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2. What-if simulation lab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A risk-free counterfactual playground where clinicians change inputs and see the projected 14-day preeclampsia probability move.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a module: cardiovascular, metabolic, sleep and stress, sensor reliability, monitoring schedule, gestational or postpartum timeline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64408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101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Adjust inputs such as SBP, DBP, heart rate, arterial stiffness, glucose, HbA1c, UPCR, platelets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88536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517136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334256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Backend re-runs the risk model on the modified features and returns the delta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312664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5541264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358384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Save, duplicate, compare and export scenarios as authenticated CSV or JSON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874520"/>
            <a:ext cx="4462272" cy="251460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Key details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2331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 simulation functions in simulation_service.py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Largest screen in the app (2,350 lines)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Scenarios are labeled non-causal exploratory hypotheses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572000"/>
            <a:ext cx="4462272" cy="178308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Where in the code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50292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views/SimulationLabView.tsx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api/simulation.py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services/simulation_service.py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services/prediction_service.py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table: SimulationScenario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3. Contactless camera and stress sensing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Estimates pulse and facial-tension indicators from an ordinary webcam, entirely inside the browser.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MediaPipe Face Landmarker tracks 478 landmarks and 52 blendshapes, plus head pose and blink rate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64408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493008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101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CHROM rPPG samples forehead and cheek regions, projects color channels, detrends, then finds the pulse peak by DFT (0.75 to 3 Hz)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88536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51713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334256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HRV needs 60 s of stable video, otherwise shows INSUFFICIENT_DURATION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312664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5541264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358384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derived numbers are stored, and only with participant consent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874520"/>
            <a:ext cx="4462272" cy="251460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Key details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2331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video frame is recorded or transmitted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Stress classifier is honestly marked UNAVAILABLE_AWAITING_VALIDATED_CLASSIFIER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Runs on bundled WASM + float16 model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572000"/>
            <a:ext cx="4462272" cy="178308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Where in the code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50292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services/faceLandmarkerService.ts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services/rppgProcessor.ts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services/stressAnalysisPipeline.ts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views/CameraSignalResearchView.tsx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api/camera_research.py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4. Clinical document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Reads unstructured antenatal PDFs, extracts vitals and labs with their page coordinates, and keeps a clinician in the loop.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Upload a PDF; PyMuPDF pulls text and bounding boxes for each value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64408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49300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101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Deterministic patterns plus local Ollama (llama3.2:3b) extract BP, urinalysis, UPCR, platelets, AST, ALT, creatinine, gestational age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88536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517136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334256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Context-aware dates separate current-visit values from historical baselines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312664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554126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358384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Clinician compares each value with the PDF, then accepts, edits or rejects; accepted values become observations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874520"/>
            <a:ext cx="4462272" cy="251460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Key details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2331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Accept-all keeps corrections and never revives rejected fields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Idempotent: repeat runs create no duplicates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decision is written to the audit log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572000"/>
            <a:ext cx="4462272" cy="178308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Where in the code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50292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api/documents.py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services/document_processor.py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services/ai_extractor.py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views/DocumentDetailView.tsx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views/ClinicianReviewQueueView.tsx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5. Risk forecast and clinical guardrails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Estimates the probability of clinician-confirmed preeclampsia within 14 days, with strict ACOG / ISSHP safety rules.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Gate: gestational age must be 20.0 to 41.0 weeks, otherwise INSUFFICIENT_DATA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64408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101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Features are read only at or before the prediction time (zero temporal leakage)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88536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51713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334256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Logistic model (v1.4.2) combines risk factors, BP, MAP, proteinuria, labs and SBP trend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312664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554126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358384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Output: Platt-calibrated probability, 95% CI and ranked feature contributions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874520"/>
            <a:ext cx="4462272" cy="251460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Key details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2331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Evidence levels: verified, patient-reported, AI-extracted, clinician-verified, model forecast, counterfactual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Evaluation reports not_evaluated, never invented AUROC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572000"/>
            <a:ext cx="4462272" cy="178308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Where in the code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50292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services/prediction_service.py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api/predictions.py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views/RiskForecastView.tsx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table: RiskPrediction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6. Dr. Crane AI doctor mascot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A friendly patient-facing crane doctor that explains orders and results, with safety checks before and after the model.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Patient message passes JWT and role checks, then the emergency rule engine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64408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4930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101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Intent classifier and prompt-injection defences filter the request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88536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5171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334256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Crane service adds twin state, medications and schedule as context and calls Requesty (gemma-4-31b-it)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312664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55412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358384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Reply appears with a mascot expression: caring, attentive, celebrating or alert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874520"/>
            <a:ext cx="4462272" cy="251460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Key details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2331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Explains clinician orders exactly as recorded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Refuses prescribing, dose changes and doubling missed doses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Deflects non-medical questions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572000"/>
            <a:ext cx="4462272" cy="178308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Where in the code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50292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services/ai_assistant_service.py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services/requesty_crane_client.py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api/ai_assistant.py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components/CraneDoctorMascot.tsx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table: AIChatMessage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7. Medication management and dose reminders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Clinicians stay in control of prescriptions; patients get timed reminders and can confirm each dose.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Doctor picks the patient explicitly, then sets drug, dose, route, frequency, dates, instructions and precautions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64408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101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Engine turns frequency into timing slots, for example Labetalol 100 mg at 08:00 and 20:00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88536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517136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334256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Reminders sync to the patient notification center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312664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5541264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358384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Patient confirms a dose, which is saved in the dose log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874520"/>
            <a:ext cx="4462272" cy="251460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Key details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2331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 monographs: labetalol, methyldopa, aspirin 81 mg, nifedipine, hydralazine, magnesium sulfate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Warnings shown with each order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572000"/>
            <a:ext cx="4462272" cy="178308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Where in the code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50292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services/medication_service.py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api/medications.py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views/MedicationsView.tsx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tables: MedicationOrder, MedicationDoseLog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8. Doctor scheduling and patient booking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Doctors publish their availability and patients book consultations without double-booking.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Doctor sets weekly hours (Mon to Sun), slot length (15 to 60 min) and breaks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64408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49300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101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Schedule is saved to the database, with separate unavailability entries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88536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517136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334256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Patient, or Dr. Crane on their behalf, picks an open slot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312664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554126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358384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Booking is atomic and sends a high-priority alert to the doctor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874520"/>
            <a:ext cx="4462272" cy="251460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Key details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2331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Slots are computed from availability minus existing bookings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flow serves the patient and clinician portals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572000"/>
            <a:ext cx="4462272" cy="178308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Where in the code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50292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services/appointment_service.py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api/appointments.py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views/AppointmentsView.tsx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tables: DoctorAvailability, Appointment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9. Deterministic emergency triage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Severe warning signs are caught by fixed rules before any AI model sees the message.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Rules check: unresponsive severe headache, visual scotoma, RUQ or epigastric pain, dyspnea, heavy bleeding, BP at or above 160/110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64408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4930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101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match returns a red emergency state telling the patient to go to emergency triage or call 911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88536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5171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334256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high-priority alert is dispatched to the on-call clinician (Dr. Elena Vance)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312664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55412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358384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event is stored and shown in the clinician portal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874520"/>
            <a:ext cx="4462272" cy="251460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Key details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2331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Runs before the LLM, so it works even if AI is down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Aligned with ACOG / ISSHP criteria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572000"/>
            <a:ext cx="4462272" cy="178308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Where in the code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50292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api/emergency.py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services/notification_service.py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table: EmergencyEvent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10. Welcome screen and immersive UI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A calm first impression and a consistent clinical-glass interface for both roles.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Welcome screen shows real maternal photography and origami crane animation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64408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493008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101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Delivery transition animates the move into the portal after login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88536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51713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334256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Layout adapts navigation to the signed-in role (clinician or patient)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312664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5541264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358384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Tailwind v4 glassmorphic cards, badges and metric tiles are shared across views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874520"/>
            <a:ext cx="4462272" cy="251460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Key details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2331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 bundled maternal photos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Dr. Crane mascot is SVG with 4 expressions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Protected routes guard clinician-only pages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572000"/>
            <a:ext cx="4462272" cy="178308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Where in the code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50292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views/FrontWelcomeView.tsx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components/MaternalOrigamiBackground.tsx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components/CraneDeliveryTransition.tsx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components/Layout.tsx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context/AuthContext.tsx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11. Devices and ambulatory measurements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Brings home readings into the twin alongside clinic data.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Device API registers connections: BLE sphygmomanometer, SpO2, scale and CGM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64408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101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Connector layer adapts each device type into a common measurement format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88536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51713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334256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Readings are stored as DeviceMeasurement rows flagged as patient-reported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312664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554126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358384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 readings update twin state and feed the risk model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874520"/>
            <a:ext cx="4462272" cy="251460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Key details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2331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Evidence label: patient-reported telemetry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Sensor noise can be stress-tested in the simulation lab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572000"/>
            <a:ext cx="4462272" cy="178308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Where in the code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50292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services/device_connectors.py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api/devices.py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api/measurements.py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views/DevicesAndMeasurementsView.tsx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12. Security, audit and notifications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Cross-cutting services that keep every role isolated and every action traceable.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Passwords hashed with PBKDF2-HMAC-SHA256; 24-hour JWT bearer tokens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64408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101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Role-based access (clinician, patient, admin): wrong role gets 403, other patients return 404 so IDs cannot be probed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88536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517136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334256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audit_service records review decisions and key actions, shown in Audit history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312664"/>
            <a:ext cx="6583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5541264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358384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notification_service delivers dose, appointment and emergency alerts to the header center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874520"/>
            <a:ext cx="4462272" cy="251460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Key details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2331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Production refuses weak SECRET_KEY (under 32 chars)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CORS origins configurable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Demo mode seeds synthetic data at startup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572000"/>
            <a:ext cx="4462272" cy="178308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Where in the code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50292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core/security.py · core/config.py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api/deps.py · api/auth.py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api/audit.py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services/audit_service.py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services/notification_service.py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Clinical workspace: the remaining views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697480" cy="233172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Dashboard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Risk, vitals, twin and alerts at a glance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280160"/>
            <a:ext cx="2697480" cy="233172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Pregnancy timeline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Longitudinal course by gestational week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126480" y="1280160"/>
            <a:ext cx="2697480" cy="233172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Observations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Vitals and labs with evidence-level labels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1280160"/>
            <a:ext cx="2697480" cy="233172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Medical records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Uploaded PDFs, report summaries, detail view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94760"/>
            <a:ext cx="2697480" cy="233172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5"/>
                </a:solidFill>
              </a:rPr>
              <a:t>Clinician review queue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Pending AI-extracted fields awaiting approval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794760"/>
            <a:ext cx="2697480" cy="233172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Audit history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Clinician-only log of reviews and actions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3794760"/>
            <a:ext cx="2697480" cy="233172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Settings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Profile, system and Ollama status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3794760"/>
            <a:ext cx="2697480" cy="233172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Notification center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Dose, booking and emergency alerts in the header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Folder structure (1/2): backend and repo root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657600" cy="5074920"/>
          </a:xfrm>
          <a:prstGeom prst="roundRect">
            <a:avLst>
              <a:gd name="adj" fmla="val 175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backend/ · core, data, tests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3383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.env.example · requirements.txt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storage/documents/   demo PDF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               72 tests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test_ai_assistant.py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test_backend.py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test_devices_measurements.py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test_medications_appointments.py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test_requesty_crane.py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test_simulation_lab.py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app/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main.py       FastAPI, 17 routers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core/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config.py     env, CORS, keys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database.py   engine, 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security.py   JWT, PBKDF2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models/entities.py  21 tables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schemas/models.py   Pydantic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seed/seed_data.py   synthetic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1280160"/>
            <a:ext cx="3657600" cy="5074920"/>
          </a:xfrm>
          <a:prstGeom prst="roundRect">
            <a:avLst>
              <a:gd name="adj" fmla="val 175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407408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backend/app/api · 17 routers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737360"/>
            <a:ext cx="3383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app/api/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ai_assistant.py   Dr. Crane chat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appointments.py   booking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audit.py          audit trail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auth.py           login, JWT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camera_research.py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clinician.py      review queue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deps.py           auth deps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devices.py        IoT links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documents.py      PDF 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emergency.py      red-flag triage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measurements.py   device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medications.py    orders, doses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notifications.py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observations.py   labs, vitals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patients.py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predictions.py    14-day risk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simulation.py     what-if lab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twin.py           twin state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74152" y="1280160"/>
            <a:ext cx="3657600" cy="5074920"/>
          </a:xfrm>
          <a:prstGeom prst="roundRect">
            <a:avLst>
              <a:gd name="adj" fmla="val 175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11312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services/ and repo root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11312" y="1737360"/>
            <a:ext cx="3383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app/services/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ai_assistant_service.py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ai_extractor.py      Ollama OCR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appointment_service.py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audit_service.py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device_connectors.py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document_processor.py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medication_service.py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notification_service.py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prediction_service.py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requesty_crane_client.py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simulation_service.py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twin_service.py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health-twin/ (repo root)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backend/  frontend/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 · LICENSE (MIT)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pytest.ini · test_api.py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run_backend.bat · run_frontend.bat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start_all.ps1 · .gitignore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PREGTWIN_*_REPORT.md  x5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Folder structure (2/2): React + TypeScript frontend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657600" cy="5074920"/>
          </a:xfrm>
          <a:prstGeom prst="roundRect">
            <a:avLst>
              <a:gd name="adj" fmla="val 175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frontend/ · config, public, src core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3383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 · package.json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vite.config.ts · .oxlintrc.json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tsconfig.json / .app / .node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public/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favicon.svg · icons.svg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images/maternal/  4 photos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face_landmarker.task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maternal-body.glb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wasm/  MediaPipe x6 files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src/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main.tsx · App.tsx  routes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App.css · index.css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api/client.ts  REST client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assets/  hero.png, SVGs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context/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AuthContext.tsx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TransitionContext.tsx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tests/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ai_doctor_system.test.tsx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frontend.test.tsx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1280160"/>
            <a:ext cx="3657600" cy="5074920"/>
          </a:xfrm>
          <a:prstGeom prst="roundRect">
            <a:avLst>
              <a:gd name="adj" fmla="val 175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407408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src/views · 18 pages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737360"/>
            <a:ext cx="3383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src/views/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FrontWelcomeView.tsx  landing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LoginView.tsx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DashboardView.tsx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MaternalTwinView.tsx  3D twin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PregnancyTimelineView.tsx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RiskForecastView.tsx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SimulationLabView.tsx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CameraSignalResearchView.tsx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DevicesAndMeasurementsView.tsx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ObservationsView.tsx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MedicalRecordsView.tsx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DocumentDetailView.tsx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ClinicianReviewQueueView.tsx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AuditHistoryView.tsx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MedicationsView.tsx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AppointmentsView.tsx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AIAssistantView.tsx  Dr. Crane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SettingsView.tsx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74152" y="1280160"/>
            <a:ext cx="3657600" cy="5074920"/>
          </a:xfrm>
          <a:prstGeom prst="roundRect">
            <a:avLst>
              <a:gd name="adj" fmla="val 175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11312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src/components and src/services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11312" y="1737360"/>
            <a:ext cx="3383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Layout.tsx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NotificationCenter.tsx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MaternalTwin3D.tsx  Three.js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CraneDoctorMascot.tsx  SVG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CraneDeliveryTransition.tsx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MaternalOrigamiBackground.tsx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MaternalOrigamiCompanion.tsx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ui/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Alert · Badge · Button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Card · MetricCard · Modal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PageHeader  (.tsx)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src/services/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faceLandmarkerService.ts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MediaPipe 478 landmarks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rppgProcessor.ts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CHROM pulse estimation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stressAnalysisPipeline.ts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multimodal feature vector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Backend deep dive: 17 routers, 12 services, 21 tables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120640" cy="1143000"/>
          </a:xfrm>
          <a:prstGeom prst="roundRect">
            <a:avLst>
              <a:gd name="adj" fmla="val 56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Identity &amp; access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auth · deps · patients · audit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5120640" cy="1143000"/>
          </a:xfrm>
          <a:prstGeom prst="roundRect">
            <a:avLst>
              <a:gd name="adj" fmla="val 56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5"/>
                </a:solidFill>
              </a:rPr>
              <a:t>Clinical data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documents · observations · devices · measurements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0"/>
            <a:ext cx="5120640" cy="1143000"/>
          </a:xfrm>
          <a:prstGeom prst="roundRect">
            <a:avLst>
              <a:gd name="adj" fmla="val 56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Intelligence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twin · predictions · simulation · camera_research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120640"/>
            <a:ext cx="5120640" cy="1143000"/>
          </a:xfrm>
          <a:prstGeom prst="roundRect">
            <a:avLst>
              <a:gd name="adj" fmla="val 56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Care &amp; safety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medications · appointments · notifications · emergency · clinician · ai_assistant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0" y="1188720"/>
          <a:ext cx="5943600" cy="5166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Risk model: calibrated 14-day preeclampsia forecast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63093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1264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Plus continuous terms per mmHg above baseline: SBP 0.048, DBP 0.052, MAP 0.035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949440" y="1280160"/>
            <a:ext cx="4782312" cy="1143000"/>
          </a:xfrm>
          <a:prstGeom prst="roundRect">
            <a:avLst>
              <a:gd name="adj" fmla="val 56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≥ 20.0 week gate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Earlier pregnancies return INSUFFICIENT_DATA per ACOG / ISSHP.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2560320"/>
            <a:ext cx="4782312" cy="1143000"/>
          </a:xfrm>
          <a:prstGeom prst="roundRect">
            <a:avLst>
              <a:gd name="adj" fmla="val 56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Zero temporal leakage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Features use only observations at or before prediction time.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3840480"/>
            <a:ext cx="4782312" cy="1143000"/>
          </a:xfrm>
          <a:prstGeom prst="roundRect">
            <a:avLst>
              <a:gd name="adj" fmla="val 56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Calibrated and explainable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Platt-calibrated probability, 95% CI, SHAP-style contributions.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5120640"/>
            <a:ext cx="4782312" cy="1143000"/>
          </a:xfrm>
          <a:prstGeom prst="roundRect">
            <a:avLst>
              <a:gd name="adj" fmla="val 56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Honest evaluation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Reports not_evaluated rather than fabricating AUROC scores.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Synthetic demo cohort and verification record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4118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72</a:t>
            </a:r>
            <a:endParaRPr lang="en-US" sz="12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backend pytest tests passing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331159" y="1280160"/>
            <a:ext cx="2651760" cy="1554480"/>
          </a:xfrm>
          <a:prstGeom prst="roundRect">
            <a:avLst>
              <a:gd name="adj" fmla="val 4118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25</a:t>
            </a:r>
            <a:endParaRPr lang="en-US" sz="12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frontend Vitest tests passing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05118" y="1280160"/>
            <a:ext cx="2651760" cy="1554480"/>
          </a:xfrm>
          <a:prstGeom prst="roundRect">
            <a:avLst>
              <a:gd name="adj" fmla="val 4118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8</a:t>
            </a:r>
            <a:endParaRPr lang="en-US" sz="12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audit defects fixed (PT-001 to PT-008)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079078" y="1280160"/>
            <a:ext cx="2651760" cy="1554480"/>
          </a:xfrm>
          <a:prstGeom prst="roundRect">
            <a:avLst>
              <a:gd name="adj" fmla="val 4118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0</a:t>
            </a:r>
            <a:endParaRPr lang="en-US" sz="12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 patient records: all data synthetic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08960"/>
            <a:ext cx="2651760" cy="2651760"/>
          </a:xfrm>
          <a:prstGeom prst="roundRect">
            <a:avLst>
              <a:gd name="adj" fmla="val 2414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Dr. Elena Vance, MD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Maternal-fetal medicine. Prescribes, reviews queue, receives emergency alerts.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331159" y="3108960"/>
            <a:ext cx="2651760" cy="2651760"/>
          </a:xfrm>
          <a:prstGeom prst="roundRect">
            <a:avLst>
              <a:gd name="adj" fmla="val 2414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Maya Lin · 31y · 31.4 wk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High risk: SBP 122 → 142, 1+ proteinuria, UPCR 0.34. Labetalol, methyldopa, aspirin.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05118" y="3108960"/>
            <a:ext cx="2651760" cy="2651760"/>
          </a:xfrm>
          <a:prstGeom prst="roundRect">
            <a:avLst>
              <a:gd name="adj" fmla="val 2414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Sophia Reyes · 36y · 28 wk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Moderate risk: chronic hypertension, prior preeclampsia, stable monitoring.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79078" y="3108960"/>
            <a:ext cx="2651760" cy="2651760"/>
          </a:xfrm>
          <a:prstGeom prst="roundRect">
            <a:avLst>
              <a:gd name="adj" fmla="val 2414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5"/>
                </a:solidFill>
              </a:rPr>
              <a:t>Clara Novak · 26y · 16 wk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Early guard: shows INSUFFICIENT_DATA below 20 weeks.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943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Audit fixes include accept-all preserving clinician corrections, excluding rejected fields, and context-aware glucose and gestational-age extraction.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Run it locally in five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737360"/>
            <a:ext cx="2011680" cy="21945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Install Ollama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ollama pull llama3.2:3b (~2 GB)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770632" y="1737360"/>
            <a:ext cx="2011680" cy="21945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Clone repo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git clone vatsalpro/health-twin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07792" y="1325880"/>
            <a:ext cx="457200" cy="45720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0779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84064" y="1737360"/>
            <a:ext cx="2011680" cy="21945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Start backend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venv, pip install, seed_data, uvicorn on :8008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21224" y="1325880"/>
            <a:ext cx="457200" cy="45720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2122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97496" y="1737360"/>
            <a:ext cx="2011680" cy="21945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Start frontend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npm install, npm run dev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34656" y="1325880"/>
            <a:ext cx="457200" cy="45720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3465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710928" y="1737360"/>
            <a:ext cx="2011680" cy="21945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Open the app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localhost:5173 · API docs at :8008/docs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48088" y="1325880"/>
            <a:ext cx="457200" cy="45720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4808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11274552" cy="1371600"/>
          </a:xfrm>
          <a:prstGeom prst="roundRect">
            <a:avLst>
              <a:gd name="adj" fmla="val 4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3175" tIns="3175" rIns="3175" bIns="3175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Research prototype, not a diagnostic device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PregTwin is clinical decision support. All patient data is synthetic, camera analysis never leaves the browser, and Ollama keeps clinical text on-device. MIT licensed.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Every beat matters. Every mother matters.  ·  Vatsal Kumar, Team kvatsal03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gTwin">
  <a:themeElements>
    <a:clrScheme name="PregTwin">
      <a:dk1>
        <a:srgbClr val="2B1B2E"/>
      </a:dk1>
      <a:lt1>
        <a:srgbClr val="FFFFFF"/>
      </a:lt1>
      <a:dk2>
        <a:srgbClr val="4A1D3F"/>
      </a:dk2>
      <a:lt2>
        <a:srgbClr val="FBF1F3"/>
      </a:lt2>
      <a:accent1>
        <a:srgbClr val="C2386A"/>
      </a:accent1>
      <a:accent2>
        <a:srgbClr val="1F8A7E"/>
      </a:accent2>
      <a:accent3>
        <a:srgbClr val="D98A1F"/>
      </a:accent3>
      <a:accent4>
        <a:srgbClr val="7A4FA3"/>
      </a:accent4>
      <a:accent5>
        <a:srgbClr val="3B7FC4"/>
      </a:accent5>
      <a:accent6>
        <a:srgbClr val="7D7480"/>
      </a:accent6>
      <a:hlink>
        <a:srgbClr val="C2386A"/>
      </a:hlink>
      <a:folHlink>
        <a:srgbClr val="7A4FA3"/>
      </a:folHlink>
    </a:clrScheme>
    <a:fontScheme name="PregTw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PregTwin (Health-Twin) - Deep Dive</dc:title>
  <dc:subject>PptxGenJS Presentation</dc:subject>
  <dc:creator>PptxGenJS</dc:creator>
  <cp:lastModifiedBy>PptxGenJS</cp:lastModifiedBy>
  <cp:revision>1</cp:revision>
  <dcterms:created xsi:type="dcterms:W3CDTF">2026-10-24T14:27:48Z</dcterms:created>
  <dcterms:modified xsi:type="dcterms:W3CDTF">2026-10-24T14:27:48Z</dcterms:modified>
</cp:coreProperties>
</file>